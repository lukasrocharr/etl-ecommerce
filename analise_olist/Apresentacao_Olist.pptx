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/>
              <a:t>Formas de pagamento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Transações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credit_card</c:v>
                </c:pt>
                <c:pt idx="1">
                  <c:v>boleto</c:v>
                </c:pt>
                <c:pt idx="2">
                  <c:v>voucher</c:v>
                </c:pt>
                <c:pt idx="3">
                  <c:v>debit_card</c:v>
                </c:pt>
                <c:pt idx="4">
                  <c:v>not_defined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76795</c:v>
                </c:pt>
                <c:pt idx="1">
                  <c:v>19784</c:v>
                </c:pt>
                <c:pt idx="2">
                  <c:v>5775</c:v>
                </c:pt>
                <c:pt idx="3">
                  <c:v>1529</c:v>
                </c:pt>
                <c:pt idx="4">
                  <c:v>3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Clientes ativos por estado (Top 10)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ativos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SP</c:v>
                </c:pt>
                <c:pt idx="1">
                  <c:v>RJ</c:v>
                </c:pt>
                <c:pt idx="2">
                  <c:v>MG</c:v>
                </c:pt>
                <c:pt idx="3">
                  <c:v>RS</c:v>
                </c:pt>
                <c:pt idx="4">
                  <c:v>PR</c:v>
                </c:pt>
                <c:pt idx="5">
                  <c:v>SC</c:v>
                </c:pt>
                <c:pt idx="6">
                  <c:v>BA</c:v>
                </c:pt>
                <c:pt idx="7">
                  <c:v>DF</c:v>
                </c:pt>
                <c:pt idx="8">
                  <c:v>ES</c:v>
                </c:pt>
                <c:pt idx="9">
                  <c:v>GO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40302</c:v>
                </c:pt>
                <c:pt idx="1">
                  <c:v>12384</c:v>
                </c:pt>
                <c:pt idx="2">
                  <c:v>11259</c:v>
                </c:pt>
                <c:pt idx="3">
                  <c:v>5277</c:v>
                </c:pt>
                <c:pt idx="4">
                  <c:v>4882</c:v>
                </c:pt>
                <c:pt idx="5">
                  <c:v>3534</c:v>
                </c:pt>
                <c:pt idx="6">
                  <c:v>3277</c:v>
                </c:pt>
                <c:pt idx="7">
                  <c:v>2075</c:v>
                </c:pt>
                <c:pt idx="8">
                  <c:v>1964</c:v>
                </c:pt>
                <c:pt idx="9">
                  <c:v>1952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Receita mensal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(R$)</c:v>
                </c:pt>
              </c:strCache>
            </c:strRef>
          </c:tx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  <c:pt idx="16">
                  <c:v>2018-05</c:v>
                </c:pt>
                <c:pt idx="17">
                  <c:v>2018-06</c:v>
                </c:pt>
                <c:pt idx="18">
                  <c:v>2018-07</c:v>
                </c:pt>
                <c:pt idx="19">
                  <c:v>2018-08</c:v>
                </c:pt>
                <c:pt idx="20">
                  <c:v>2018-09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120312.87</c:v>
                </c:pt>
                <c:pt idx="1">
                  <c:v>247303.02</c:v>
                </c:pt>
                <c:pt idx="2">
                  <c:v>374344.3</c:v>
                </c:pt>
                <c:pt idx="3">
                  <c:v>359927.23</c:v>
                </c:pt>
                <c:pt idx="4">
                  <c:v>506071.14</c:v>
                </c:pt>
                <c:pt idx="5">
                  <c:v>433038.6</c:v>
                </c:pt>
                <c:pt idx="6">
                  <c:v>498031.48</c:v>
                </c:pt>
                <c:pt idx="7">
                  <c:v>573971.68</c:v>
                </c:pt>
                <c:pt idx="8">
                  <c:v>624401.69</c:v>
                </c:pt>
                <c:pt idx="9">
                  <c:v>664219.43</c:v>
                </c:pt>
                <c:pt idx="10">
                  <c:v>1010271.37</c:v>
                </c:pt>
                <c:pt idx="11">
                  <c:v>743914.17</c:v>
                </c:pt>
                <c:pt idx="12">
                  <c:v>950030.36</c:v>
                </c:pt>
                <c:pt idx="13">
                  <c:v>844178.71</c:v>
                </c:pt>
                <c:pt idx="14">
                  <c:v>983213.44</c:v>
                </c:pt>
                <c:pt idx="15">
                  <c:v>996647.75</c:v>
                </c:pt>
                <c:pt idx="16">
                  <c:v>996517.68</c:v>
                </c:pt>
                <c:pt idx="17">
                  <c:v>865124.31</c:v>
                </c:pt>
                <c:pt idx="18">
                  <c:v>895507.22</c:v>
                </c:pt>
                <c:pt idx="19">
                  <c:v>854686.33</c:v>
                </c:pt>
                <c:pt idx="20">
                  <c:v>145.0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Status dos pedidos (Top 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Pedidos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delivered</c:v>
                </c:pt>
                <c:pt idx="1">
                  <c:v>shipped</c:v>
                </c:pt>
                <c:pt idx="2">
                  <c:v>canceled</c:v>
                </c:pt>
                <c:pt idx="3">
                  <c:v>unavailable</c:v>
                </c:pt>
                <c:pt idx="4">
                  <c:v>invoiced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96478</c:v>
                </c:pt>
                <c:pt idx="1">
                  <c:v>1107</c:v>
                </c:pt>
                <c:pt idx="2">
                  <c:v>625</c:v>
                </c:pt>
                <c:pt idx="3">
                  <c:v>609</c:v>
                </c:pt>
                <c:pt idx="4">
                  <c:v>314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/>
              <a:t>Notas de avaliação (1-5)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Avaliações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57328</c:v>
                </c:pt>
                <c:pt idx="1">
                  <c:v>19142</c:v>
                </c:pt>
                <c:pt idx="2">
                  <c:v>8179</c:v>
                </c:pt>
                <c:pt idx="3">
                  <c:v>3151</c:v>
                </c:pt>
                <c:pt idx="4">
                  <c:v>11424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Análise de E-commerce com Engenharia e Análise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DAEC"/>
                </a:solidFill>
                <a:latin typeface="Calibri"/>
              </a:rPr>
              <a:t>Dataset Olist (Brazilian E-Commerce) — Pipeline e Análise em T-SQL / SQL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Projeto Final de Banco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**Equipe (Arquiteto de Dados, Engenheiro de Dados, Analista de Dados):** [preencher integrantes]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**Repositório:** github.com/lukasrocharr/ETL-ECOMMERCE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**Volume analisado:** ~100 mil pedidos · 8 tabelas · 550.759 registros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**Data:** 08/06/2026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  <a:latin typeface="Calibri"/>
              </a:rPr>
              <a:t>•  **1. Introdução e Contexto** — tema, dataset e volumetria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  <a:latin typeface="Calibri"/>
              </a:rPr>
              <a:t>•  **2. Modelagem e Arquitetura** — modelo de dados, tipos e governança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  <a:latin typeface="Calibri"/>
              </a:rPr>
              <a:t>•  **3. Engenharia de Dados e ETL** — pipeline, limpeza e carga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  <a:latin typeface="Calibri"/>
              </a:rPr>
              <a:t>•  **4. Análise de Dados e Insights** — as 10 perguntas de negócio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  <a:latin typeface="Calibri"/>
              </a:rPr>
              <a:t>•  **5. Gestão, Governança e Git** — repositório e organização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595959"/>
                </a:solidFill>
                <a:latin typeface="Calibri"/>
              </a:rPr>
              <a:t>•  6. Conclusão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1 — Introdução e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Tema, Relevância e Volumetria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**Tema:** comportamento de compra no e-commerce brasileiro.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**Dataset:** Olist — pedidos reais de 2016 a 2018.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**Relevância:** entender pagamento, logística, satisfação e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concentração geográfica para decisões de negócio.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**Objetivo:** transformar dados brutos (CSV) em insights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acionáveis usando exclusivamente T-SQL.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**Volumetria:** mais de meio milhão de registros somando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as 8 tabelas (geolocation adicional ~1 milhão de linhas).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40880" y="1783080"/>
          <a:ext cx="4572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44137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Tabela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Registros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raw_orders (pedidos)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99.441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raw_order_items (itens)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112.650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raw_payments (pagamentos)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103.886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raw_reviews (avaliações)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99.224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t>raw_products (produtos)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32.951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r>
                        <a:t>raw_customers (clientes)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99.441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1 — Introdução e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As 10 Perguntas de Negócio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1. Qual forma de pagamento é mais usada?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2. Qual a taxa de recompra dos clientes?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3. Quais estados têm mais clientes ativos?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4. Quais meses têm maior volume de vendas?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5. Quais categorias foram mais vendidas?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6. Qual o crescimento MoM de vendas?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7. Tempo médio de entrega?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8. Maiores motivos de cancelamento?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9. Quais vendedores têm mais receita?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•  10. Satisfação dos clientes?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2 — Modelagem e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Modelo de Dados e Decisões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**Entidades centrais:** orders (pedidos) e order_items (itens).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**Dimensões:** products, sellers, customers, category_translation.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**Eventos/transações:** payments, reviews.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**Tipos &amp; integridade:** carga em staging textual e conversão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–  segura com TRY_CONVERT (datas, decimais e inteiros).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**Índices/chaves:** order_id e product_id conectam as tabelas;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–  joins entre até 4 tabelas nas consultas analíticas.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**Governança:** ambiente SQL Server 2022 isolado em Docker;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–  scripts versionados e reexecutáveis (idempotentes).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38912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3864"/>
                </a:solidFill>
                <a:latin typeface="Calibri"/>
              </a:rPr>
              <a:t>Relacionamentos (simplificado)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4688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•  customers → orders  (1:N)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•  orders → order_items (1:N)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•  order_items → products (N:1)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•  order_items → sellers (N:1)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•  orders → payments (1:N)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•  orders → reviews (1:1)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•  products → category_translation (N:1)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3 — Engenharia de Dados e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Pipeline de ETL e Tratamento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468880" cy="10972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CSV brutos
(Kaggle/Olist)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4884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D7D31"/>
                </a:solidFill>
                <a:latin typeface="Calibri"/>
              </a:rPr>
              <a:t>➜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28800"/>
            <a:ext cx="2468880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BULK INSERT
(staging raw_*)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14884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D7D31"/>
                </a:solidFill>
                <a:latin typeface="Calibri"/>
              </a:rPr>
              <a:t>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2468880" cy="109728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Limpeza &amp;
Tipagem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148840"/>
            <a:ext cx="411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D7D31"/>
                </a:solidFill>
                <a:latin typeface="Calibri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828800"/>
            <a:ext cx="2468880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Consultas
Analíticas (DQL)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**Extração robusta:** BULK INSERT com FORMAT='CSV' (trata campos entre aspas).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**Valores nulos:** datas de entrega ausentes tratadas; conversão tolerante com TRY_CONVERT.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**Texto sujo:** avaliações com texto livre/quebras de linha → arquivo reviews_limpo pré-tratado.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**Formatos inconsistentes:** timestamps e decimais convertidos no momento da análise.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**Reexecução:** scripts idempotentes (DROP IF EXISTS + recarga) garantem carga repetível.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4 — Análise de Dados 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Pagamentos e Recompra (P1 e P2)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73,9%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no cartão de crédito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3,12%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taxa de recompra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R$ 12,5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via crédito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" y="3291840"/>
          <a:ext cx="60350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49440" y="33832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**Insight:** o crédito domina (73,9%) — parcelamento é chave;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–  boleto ainda relevante (19%) para o público sem cartão.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**Risco:** recompra de apenas 3,12% → base de compra única.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**Ação:** CRM, pós-venda e fidelização para elevar o LTV.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4 — Análise de Dados 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Geografia e Sazonalidade (P3 e P4)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40.302 clientes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Nov/2017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pico de pedidos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Sudeste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concentra a demanda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" y="3291840"/>
          <a:ext cx="60350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49440" y="33832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**Insight:** forte concentração no Sudeste (SP/RJ/MG).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**Sazonalidade:** pico em nov/2017 (Black Friday).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**Ação:** logística e estoque reforçados no Sudeste e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–  campanhas planejadas para datas de pico.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4 — Análise de Dados 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Categorias e Crescimento (P5 e P6)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cama/mesa/banho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+ vendida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health_beauty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+ receita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+52%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MoM em nov/2017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" y="3291840"/>
          <a:ext cx="60350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49440" y="33832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**Insight:** volume vem de cama/mesa/banho; receita de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–  saúde &amp; beleza e relógios/presentes (ticket maior).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**Tendência:** crescimento forte em 2017, estabiliza em 2018.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**Ação:** mix de produtos por margem e curva de demanda.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4 — Análise de Dados 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Logística e Cancelamentos (P7 e P8)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12,5 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entrega média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93,2%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no prazo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0,6%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cancelados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" y="3291840"/>
          <a:ext cx="60350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49440" y="33832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**Insight:** logística saudável — 93% no prazo, ~12 dias.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**Cancelamento:** o Olist não traz 'motivo' textual;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–  'unavailable' (0,6%) sugere ruptura de estoque.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**Ação:** monitorar estoque e prazos das categorias críticas.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4 — Análise de Dados 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Vendedores e Satisfação (P9 e P10)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F3864"/>
                </a:solidFill>
                <a:latin typeface="Calibri"/>
              </a:rPr>
              <a:t>R$ 229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top seller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4,09/5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nota média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5623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14,7%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insatisfeitos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" y="3291840"/>
          <a:ext cx="60350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49440" y="33832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**Insight:** receita concentrada em poucos sellers de SP.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**Satisfação:** boa média (4,09), mas 14,7% dão nota 1-2.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–  11,5% dão nota 1 — cauda de insatisfação relevante.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•  **Ação:** plano de qualidade para sellers e SAC proativo.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5 — Gestão e Governança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Organização, Governança e Git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•  **Repositório:** github.com/lukasrocharr/ETL-ECOMMERCE (público, com README).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•  **Estrutura de pastas:** sql/ (DDL, ETL, objetos), analise_olist/ (carga + 10 perguntas), docs/.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•  **Scripts:** 00_setup_e_carga.sql (carga) e 01_perguntas.sql (as 10 análises).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•  **Reprodutibilidade:** ambiente em Docker + scripts idempotentes = qualquer membro reproduz.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•  **Versionamento:** histórico de commits documentando a evolução do projeto.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595959"/>
                </a:solidFill>
                <a:latin typeface="Calibri"/>
              </a:rPr>
              <a:t>•  **Gestão:** quadro Kanban (GitHub Projects/Trello) — [inserir print do board].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Etapa 6 — 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Conclusão e 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254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595959"/>
                </a:solidFill>
                <a:latin typeface="Calibri"/>
              </a:rPr>
              <a:t>•  Principais conclusões: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Crédito domina; logística forte (93% no prazo).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Demanda concentrada no Sudeste e em datas de pico.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Recompra baixíssima (3,1%) e 14,7% de insatisfeitos.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595959"/>
                </a:solidFill>
                <a:latin typeface="Calibri"/>
              </a:rPr>
              <a:t>•  Próximos passos: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Modelar um Data Warehouse estrela (fato vendas).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Conectar Dashboard de BI (Power BI/Metabase).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Programa de fidelização para elevar a recompra.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–  Painel de qualidade de sellers e satisfação.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FDAEC"/>
                </a:solidFill>
                <a:latin typeface="Calibri"/>
              </a:rPr>
              <a:t>Perguntas?  ·  github.com/lukasrocharr/ETL-ECOMMERCE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