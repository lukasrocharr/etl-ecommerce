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/>
              <a:t>Formas de pagamento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Transações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credit_card</c:v>
                </c:pt>
                <c:pt idx="1">
                  <c:v>boleto</c:v>
                </c:pt>
                <c:pt idx="2">
                  <c:v>voucher</c:v>
                </c:pt>
                <c:pt idx="3">
                  <c:v>debit_card</c:v>
                </c:pt>
                <c:pt idx="4">
                  <c:v>not_defined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76795</c:v>
                </c:pt>
                <c:pt idx="1">
                  <c:v>19784</c:v>
                </c:pt>
                <c:pt idx="2">
                  <c:v>5775</c:v>
                </c:pt>
                <c:pt idx="3">
                  <c:v>1529</c:v>
                </c:pt>
                <c:pt idx="4">
                  <c:v>3</c:v>
                </c:pt>
              </c:numCache>
            </c:numRef>
          </c:val>
        </c:ser>
      </c:pieChart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Clientes ativos por estado (Top 10)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Clientes ativos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SP</c:v>
                </c:pt>
                <c:pt idx="1">
                  <c:v>RJ</c:v>
                </c:pt>
                <c:pt idx="2">
                  <c:v>MG</c:v>
                </c:pt>
                <c:pt idx="3">
                  <c:v>RS</c:v>
                </c:pt>
                <c:pt idx="4">
                  <c:v>PR</c:v>
                </c:pt>
                <c:pt idx="5">
                  <c:v>SC</c:v>
                </c:pt>
                <c:pt idx="6">
                  <c:v>BA</c:v>
                </c:pt>
                <c:pt idx="7">
                  <c:v>DF</c:v>
                </c:pt>
                <c:pt idx="8">
                  <c:v>ES</c:v>
                </c:pt>
                <c:pt idx="9">
                  <c:v>GO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40302</c:v>
                </c:pt>
                <c:pt idx="1">
                  <c:v>12384</c:v>
                </c:pt>
                <c:pt idx="2">
                  <c:v>11259</c:v>
                </c:pt>
                <c:pt idx="3">
                  <c:v>5277</c:v>
                </c:pt>
                <c:pt idx="4">
                  <c:v>4882</c:v>
                </c:pt>
                <c:pt idx="5">
                  <c:v>3534</c:v>
                </c:pt>
                <c:pt idx="6">
                  <c:v>3277</c:v>
                </c:pt>
                <c:pt idx="7">
                  <c:v>2075</c:v>
                </c:pt>
                <c:pt idx="8">
                  <c:v>1964</c:v>
                </c:pt>
                <c:pt idx="9">
                  <c:v>1952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Receita mensal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Receita (R$)</c:v>
                </c:pt>
              </c:strCache>
            </c:strRef>
          </c:tx>
          <c:marker>
            <c:symbol val="none"/>
          </c:marker>
          <c:cat>
            <c:strRef>
              <c:f>Sheet1!$A$2:$A$22</c:f>
              <c:strCache>
                <c:ptCount val="21"/>
                <c:pt idx="0">
                  <c:v>2017-01</c:v>
                </c:pt>
                <c:pt idx="1">
                  <c:v>2017-02</c:v>
                </c:pt>
                <c:pt idx="2">
                  <c:v>2017-03</c:v>
                </c:pt>
                <c:pt idx="3">
                  <c:v>2017-04</c:v>
                </c:pt>
                <c:pt idx="4">
                  <c:v>2017-05</c:v>
                </c:pt>
                <c:pt idx="5">
                  <c:v>2017-06</c:v>
                </c:pt>
                <c:pt idx="6">
                  <c:v>2017-07</c:v>
                </c:pt>
                <c:pt idx="7">
                  <c:v>2017-08</c:v>
                </c:pt>
                <c:pt idx="8">
                  <c:v>2017-09</c:v>
                </c:pt>
                <c:pt idx="9">
                  <c:v>2017-10</c:v>
                </c:pt>
                <c:pt idx="10">
                  <c:v>2017-11</c:v>
                </c:pt>
                <c:pt idx="11">
                  <c:v>2017-12</c:v>
                </c:pt>
                <c:pt idx="12">
                  <c:v>2018-01</c:v>
                </c:pt>
                <c:pt idx="13">
                  <c:v>2018-02</c:v>
                </c:pt>
                <c:pt idx="14">
                  <c:v>2018-03</c:v>
                </c:pt>
                <c:pt idx="15">
                  <c:v>2018-04</c:v>
                </c:pt>
                <c:pt idx="16">
                  <c:v>2018-05</c:v>
                </c:pt>
                <c:pt idx="17">
                  <c:v>2018-06</c:v>
                </c:pt>
                <c:pt idx="18">
                  <c:v>2018-07</c:v>
                </c:pt>
                <c:pt idx="19">
                  <c:v>2018-08</c:v>
                </c:pt>
                <c:pt idx="20">
                  <c:v>2018-09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120312.87</c:v>
                </c:pt>
                <c:pt idx="1">
                  <c:v>247303.02</c:v>
                </c:pt>
                <c:pt idx="2">
                  <c:v>374344.3</c:v>
                </c:pt>
                <c:pt idx="3">
                  <c:v>359927.23</c:v>
                </c:pt>
                <c:pt idx="4">
                  <c:v>506071.14</c:v>
                </c:pt>
                <c:pt idx="5">
                  <c:v>433038.6</c:v>
                </c:pt>
                <c:pt idx="6">
                  <c:v>498031.48</c:v>
                </c:pt>
                <c:pt idx="7">
                  <c:v>573971.68</c:v>
                </c:pt>
                <c:pt idx="8">
                  <c:v>624401.69</c:v>
                </c:pt>
                <c:pt idx="9">
                  <c:v>664219.43</c:v>
                </c:pt>
                <c:pt idx="10">
                  <c:v>1010271.37</c:v>
                </c:pt>
                <c:pt idx="11">
                  <c:v>743914.17</c:v>
                </c:pt>
                <c:pt idx="12">
                  <c:v>950030.36</c:v>
                </c:pt>
                <c:pt idx="13">
                  <c:v>844178.71</c:v>
                </c:pt>
                <c:pt idx="14">
                  <c:v>983213.44</c:v>
                </c:pt>
                <c:pt idx="15">
                  <c:v>996647.75</c:v>
                </c:pt>
                <c:pt idx="16">
                  <c:v>996517.68</c:v>
                </c:pt>
                <c:pt idx="17">
                  <c:v>865124.31</c:v>
                </c:pt>
                <c:pt idx="18">
                  <c:v>895507.22</c:v>
                </c:pt>
                <c:pt idx="19">
                  <c:v>854686.33</c:v>
                </c:pt>
                <c:pt idx="20">
                  <c:v>145.0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Status dos pedidos (Top 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Pedidos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delivered</c:v>
                </c:pt>
                <c:pt idx="1">
                  <c:v>shipped</c:v>
                </c:pt>
                <c:pt idx="2">
                  <c:v>canceled</c:v>
                </c:pt>
                <c:pt idx="3">
                  <c:v>unavailable</c:v>
                </c:pt>
                <c:pt idx="4">
                  <c:v>invoiced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96478</c:v>
                </c:pt>
                <c:pt idx="1">
                  <c:v>1107</c:v>
                </c:pt>
                <c:pt idx="2">
                  <c:v>625</c:v>
                </c:pt>
                <c:pt idx="3">
                  <c:v>609</c:v>
                </c:pt>
                <c:pt idx="4">
                  <c:v>314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/>
              <a:t>Notas de avaliação (1-5)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Avaliações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5</c:v>
                </c:pt>
                <c:pt idx="1">
                  <c:v>4</c:v>
                </c:pt>
                <c:pt idx="2">
                  <c:v>3</c:v>
                </c:pt>
                <c:pt idx="3">
                  <c:v>2</c:v>
                </c:pt>
                <c:pt idx="4">
                  <c:v>1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57328</c:v>
                </c:pt>
                <c:pt idx="1">
                  <c:v>19142</c:v>
                </c:pt>
                <c:pt idx="2">
                  <c:v>8179</c:v>
                </c:pt>
                <c:pt idx="3">
                  <c:v>3151</c:v>
                </c:pt>
                <c:pt idx="4">
                  <c:v>11424</c:v>
                </c:pt>
              </c:numCache>
            </c:numRef>
          </c:val>
        </c:ser>
      </c:pieChart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77440"/>
            <a:ext cx="12191695" cy="10972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Análise de E-commerce com Engenharia e Análise de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FDAEC"/>
                </a:solidFill>
                <a:latin typeface="Calibri"/>
              </a:rPr>
              <a:t>Dataset Olist (Brazilian E-Commerce) — Pipeline e Análise em T-SQL / SQL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F3864"/>
                </a:solidFill>
                <a:latin typeface="Calibri"/>
              </a:rPr>
              <a:t>Projeto Final de Banco de Dados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56616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•  **Equipe (Arquiteto de Dados, Engenheiro de Dados, Analista de Dados):** [preencher integrantes]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•  **Repositório:** github.com/lukasrocharr/ETL-ECOMMERCE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•  **Volume analisado:** ~100 mil pedidos · modelo estrela de 20 tabelas (8 staging + 8 dim + 4 fato)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•  **Data:** 08/06/2026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3864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64240" cy="25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595959"/>
                </a:solidFill>
                <a:latin typeface="Calibri"/>
              </a:rPr>
              <a:t>•  **1. Introdução e Contexto** — tema, dataset e volumetria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595959"/>
                </a:solidFill>
                <a:latin typeface="Calibri"/>
              </a:rPr>
              <a:t>•  **2. Modelagem e Arquitetura** — modelo de dados, tipos e governança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595959"/>
                </a:solidFill>
                <a:latin typeface="Calibri"/>
              </a:rPr>
              <a:t>•  **3. Engenharia de Dados e ETL** — pipeline, limpeza e carga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595959"/>
                </a:solidFill>
                <a:latin typeface="Calibri"/>
              </a:rPr>
              <a:t>•  **4. Análise de Dados e Insights** — as 10 perguntas de negócio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595959"/>
                </a:solidFill>
                <a:latin typeface="Calibri"/>
              </a:rPr>
              <a:t>•  **5. Gestão, Governança e Git** — repositório e organização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595959"/>
                </a:solidFill>
                <a:latin typeface="Calibri"/>
              </a:rPr>
              <a:t>•  6. Conclusão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  <a:latin typeface="Calibri"/>
              </a:rPr>
              <a:t>Etapa 1 — Introdução e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3864"/>
                </a:solidFill>
                <a:latin typeface="Calibri"/>
              </a:rPr>
              <a:t>Tema, Relevância e Volumetria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64240" cy="25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•  **Tema:** comportamento de compra no e-commerce brasileiro.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•  **Dataset:** Olist — pedidos reais de 2016 a 2018.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•  **Relevância:** entender pagamento, logística, satisfação e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–  concentração geográfica para decisões de negócio.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•  **Objetivo:** transformar dados brutos (CSV) em insights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–  acionáveis usando exclusivamente T-SQL.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•  **Modelo:** 8 CSV brutos → modelo estrela de **20 tabelas**.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•  **Volumetria:** +500 mil registros; maior fato (itens de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–  pedido) com 112.650 linhas.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040880" y="1783080"/>
          <a:ext cx="45720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444137"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Tabela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Registros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t>raw_orders (pedidos)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99.441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t>raw_order_items (itens)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112.650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t>raw_payments (pagamentos)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103.886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t>raw_reviews (avaliações)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99.224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t>raw_products (produtos)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32.951</a:t>
                      </a:r>
                    </a:p>
                  </a:txBody>
                  <a:tcPr/>
                </a:tc>
              </a:tr>
              <a:tr h="444138">
                <a:tc>
                  <a:txBody>
                    <a:bodyPr/>
                    <a:lstStyle/>
                    <a:p>
                      <a:r>
                        <a:t>raw_customers (clientes)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99.441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  <a:latin typeface="Calibri"/>
              </a:rPr>
              <a:t>Etapa 1 — Introdução e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3864"/>
                </a:solidFill>
                <a:latin typeface="Calibri"/>
              </a:rPr>
              <a:t>As 10 Perguntas de Negócio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64240" cy="25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•  1. Qual forma de pagamento é mais usada?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•  2. Qual a taxa de recompra dos clientes?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•  3. Quais estados têm mais clientes ativos?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•  4. Quais meses têm maior volume de vendas?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•  5. Quais categorias foram mais vendidas?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•  6. Qual o crescimento MoM de vendas?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•  7. Tempo médio de entrega?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•  8. Maiores motivos de cancelamento?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•  9. Quais vendedores têm mais receita?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•  10. Satisfação dos clientes?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  <a:latin typeface="Calibri"/>
              </a:rPr>
              <a:t>Etapa 2 — Modelagem e 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3864"/>
                </a:solidFill>
                <a:latin typeface="Calibri"/>
              </a:rPr>
              <a:t>Modelo Dimensional — 20 Tabelas (Estrela)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64240" cy="25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91640"/>
            <a:ext cx="3794760" cy="4114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300">
                <a:solidFill>
                  <a:srgbClr val="FFFFFF"/>
                </a:solidFill>
              </a:rPr>
              <a:t>STAGING (8)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30552"/>
            <a:ext cx="3794760" cy="2715768"/>
          </a:xfrm>
          <a:prstGeom prst="rect">
            <a:avLst/>
          </a:prstGeom>
          <a:solidFill>
            <a:srgbClr val="FFFFFF"/>
          </a:solidFill>
          <a:ln w="190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2203704"/>
            <a:ext cx="3575304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>
                <a:solidFill>
                  <a:srgbClr val="595959"/>
                </a:solidFill>
              </a:rPr>
              <a:t>•  raw_orders — 99.441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595959"/>
                </a:solidFill>
              </a:rPr>
              <a:t>•  raw_order_items — 112.650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595959"/>
                </a:solidFill>
              </a:rPr>
              <a:t>•  raw_payments — 103.886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595959"/>
                </a:solidFill>
              </a:rPr>
              <a:t>•  raw_reviews — 99.224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595959"/>
                </a:solidFill>
              </a:rPr>
              <a:t>•  raw_products — 32.951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595959"/>
                </a:solidFill>
              </a:rPr>
              <a:t>•  raw_customers — 99.441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595959"/>
                </a:solidFill>
              </a:rPr>
              <a:t>•  raw_sellers — 3.095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595959"/>
                </a:solidFill>
              </a:rPr>
              <a:t>•  raw_cat_translation — 71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1691640"/>
            <a:ext cx="3794760" cy="4114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300">
                <a:solidFill>
                  <a:srgbClr val="FFFFFF"/>
                </a:solidFill>
              </a:rPr>
              <a:t>DIMENSÕES (8)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2130552"/>
            <a:ext cx="3794760" cy="2715768"/>
          </a:xfrm>
          <a:prstGeom prst="rect">
            <a:avLst/>
          </a:prstGeom>
          <a:solidFill>
            <a:srgbClr val="FFFFFF"/>
          </a:solidFill>
          <a:ln w="19050">
            <a:solidFill>
              <a:srgbClr val="2E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203704"/>
            <a:ext cx="3575304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>
                <a:solidFill>
                  <a:srgbClr val="595959"/>
                </a:solidFill>
              </a:rPr>
              <a:t>•  dim_tempo — 1.096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595959"/>
                </a:solidFill>
              </a:rPr>
              <a:t>•  dim_cliente — 96.096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595959"/>
                </a:solidFill>
              </a:rPr>
              <a:t>•  dim_produto — 32.951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595959"/>
                </a:solidFill>
              </a:rPr>
              <a:t>•  dim_categoria — 73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595959"/>
                </a:solidFill>
              </a:rPr>
              <a:t>•  dim_vendedor — 3.095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595959"/>
                </a:solidFill>
              </a:rPr>
              <a:t>•  dim_status_pedido — 8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595959"/>
                </a:solidFill>
              </a:rPr>
              <a:t>•  dim_forma_pagamento — 5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595959"/>
                </a:solidFill>
              </a:rPr>
              <a:t>•  dim_avaliacao — 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66760" y="1691640"/>
            <a:ext cx="3291840" cy="41148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300">
                <a:solidFill>
                  <a:srgbClr val="FFFFFF"/>
                </a:solidFill>
              </a:rPr>
              <a:t>FATOS (4)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66760" y="2130552"/>
            <a:ext cx="3291840" cy="1472184"/>
          </a:xfrm>
          <a:prstGeom prst="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76488" y="2203704"/>
            <a:ext cx="3072384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>
                <a:solidFill>
                  <a:srgbClr val="595959"/>
                </a:solidFill>
              </a:rPr>
              <a:t>•  fato_pedido — 99.441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595959"/>
                </a:solidFill>
              </a:rPr>
              <a:t>•  fato_item_pedido — 112.650 ★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595959"/>
                </a:solidFill>
              </a:rPr>
              <a:t>•  fato_pagamento — 103.886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595959"/>
                </a:solidFill>
              </a:rPr>
              <a:t>•  fato_avaliacao — 99.224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703320"/>
            <a:ext cx="3291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Calibri"/>
              </a:rPr>
              <a:t>Decisões de modelagem:
• Surrogate keys (IDENTITY) nas dimensões.
• Integridade por PK/FK/UNIQUE/CHECK.
• Tipagem segura via TRY_CONVERT.
• ETL transacional e idempotente.
• ★ maior fato: itens de pedido.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  <a:latin typeface="Calibri"/>
              </a:rPr>
              <a:t>Etapa 2 — Modelagem e 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3864"/>
                </a:solidFill>
                <a:latin typeface="Calibri"/>
              </a:rPr>
              <a:t>As 20 Tabelas a Serviço das 10 Perguntas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64240" cy="25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0642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6217920"/>
              </a:tblGrid>
              <a:tr h="432261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Pergunta de negócio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Tabelas do modelo utilizadas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95959"/>
                          </a:solidFill>
                        </a:rPr>
                        <a:t>1. Forma de pagamento mais usada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95959"/>
                          </a:solidFill>
                          <a:latin typeface="Consolas"/>
                        </a:rPr>
                        <a:t>fato_pagamento + dim_forma_pagamento</a:t>
                      </a:r>
                    </a:p>
                  </a:txBody>
                  <a:tcPr/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95959"/>
                          </a:solidFill>
                        </a:rPr>
                        <a:t>2. Taxa de recompra</a:t>
                      </a:r>
                    </a:p>
                  </a:txBody>
                  <a:tcPr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95959"/>
                          </a:solidFill>
                          <a:latin typeface="Consolas"/>
                        </a:rPr>
                        <a:t>fato_pedido + dim_cliente</a:t>
                      </a:r>
                    </a:p>
                  </a:txBody>
                  <a:tcPr>
                    <a:solidFill>
                      <a:srgbClr val="EEF3FB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95959"/>
                          </a:solidFill>
                        </a:rPr>
                        <a:t>3. Estados com mais clientes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95959"/>
                          </a:solidFill>
                          <a:latin typeface="Consolas"/>
                        </a:rPr>
                        <a:t>dim_cliente + fato_pedido</a:t>
                      </a:r>
                    </a:p>
                  </a:txBody>
                  <a:tcPr/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95959"/>
                          </a:solidFill>
                        </a:rPr>
                        <a:t>4. Meses de maior venda</a:t>
                      </a:r>
                    </a:p>
                  </a:txBody>
                  <a:tcPr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95959"/>
                          </a:solidFill>
                          <a:latin typeface="Consolas"/>
                        </a:rPr>
                        <a:t>fato_item_pedido + dim_tempo</a:t>
                      </a:r>
                    </a:p>
                  </a:txBody>
                  <a:tcPr>
                    <a:solidFill>
                      <a:srgbClr val="EEF3FB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95959"/>
                          </a:solidFill>
                        </a:rPr>
                        <a:t>5. Categorias mais vendidas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95959"/>
                          </a:solidFill>
                          <a:latin typeface="Consolas"/>
                        </a:rPr>
                        <a:t>fato_item_pedido + dim_produto + dim_categoria</a:t>
                      </a:r>
                    </a:p>
                  </a:txBody>
                  <a:tcPr/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95959"/>
                          </a:solidFill>
                        </a:rPr>
                        <a:t>6. Crescimento MoM</a:t>
                      </a:r>
                    </a:p>
                  </a:txBody>
                  <a:tcPr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95959"/>
                          </a:solidFill>
                          <a:latin typeface="Consolas"/>
                        </a:rPr>
                        <a:t>fato_item_pedido + dim_tempo</a:t>
                      </a:r>
                    </a:p>
                  </a:txBody>
                  <a:tcPr>
                    <a:solidFill>
                      <a:srgbClr val="EEF3FB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95959"/>
                          </a:solidFill>
                        </a:rPr>
                        <a:t>7. Tempo médio de entrega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95959"/>
                          </a:solidFill>
                          <a:latin typeface="Consolas"/>
                        </a:rPr>
                        <a:t>fato_pedido + dim_tempo</a:t>
                      </a:r>
                    </a:p>
                  </a:txBody>
                  <a:tcPr/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95959"/>
                          </a:solidFill>
                        </a:rPr>
                        <a:t>8. Motivos de cancelamento</a:t>
                      </a:r>
                    </a:p>
                  </a:txBody>
                  <a:tcPr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95959"/>
                          </a:solidFill>
                          <a:latin typeface="Consolas"/>
                        </a:rPr>
                        <a:t>fato_pedido + dim_status_pedido</a:t>
                      </a:r>
                    </a:p>
                  </a:txBody>
                  <a:tcPr>
                    <a:solidFill>
                      <a:srgbClr val="EEF3FB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95959"/>
                          </a:solidFill>
                        </a:rPr>
                        <a:t>9. Vendedores com mais receita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95959"/>
                          </a:solidFill>
                          <a:latin typeface="Consolas"/>
                        </a:rPr>
                        <a:t>fato_item_pedido + dim_vendedor</a:t>
                      </a:r>
                    </a:p>
                  </a:txBody>
                  <a:tcPr/>
                </a:tc>
              </a:tr>
              <a:tr h="43227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95959"/>
                          </a:solidFill>
                        </a:rPr>
                        <a:t>10. Satisfação dos clientes</a:t>
                      </a:r>
                    </a:p>
                  </a:txBody>
                  <a:tcPr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95959"/>
                          </a:solidFill>
                          <a:latin typeface="Consolas"/>
                        </a:rPr>
                        <a:t>fato_avaliacao + dim_avaliacao</a:t>
                      </a:r>
                    </a:p>
                  </a:txBody>
                  <a:tcPr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  <a:latin typeface="Calibri"/>
              </a:rPr>
              <a:t>Etapa 3 — Engenharia de Dados e ETL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3864"/>
                </a:solidFill>
                <a:latin typeface="Calibri"/>
              </a:rPr>
              <a:t>Pipeline de ETL e Tratamento de Dados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64240" cy="25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24688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CSV brutos
(Kaggle/Olist)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148840"/>
            <a:ext cx="411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ED7D31"/>
                </a:solidFill>
                <a:latin typeface="Calibri"/>
              </a:rPr>
              <a:t>➜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828800"/>
            <a:ext cx="2468880" cy="10972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BULK INSERT
(staging raw_*)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2148840"/>
            <a:ext cx="411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ED7D31"/>
                </a:solidFill>
                <a:latin typeface="Calibri"/>
              </a:rPr>
              <a:t>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828800"/>
            <a:ext cx="24688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Limpeza &amp;
Tipagem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148840"/>
            <a:ext cx="411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ED7D31"/>
                </a:solidFill>
                <a:latin typeface="Calibri"/>
              </a:rPr>
              <a:t>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81160" y="1828800"/>
            <a:ext cx="2468880" cy="10972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Consultas
Analíticas (DQL)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38328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•  **Extração robusta:** BULK INSERT com FORMAT='CSV' (trata campos entre aspas).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•  **Valores nulos:** datas de entrega ausentes tratadas; conversão tolerante com TRY_CONVERT.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•  **Texto sujo:** avaliações com texto livre/quebras de linha → arquivo reviews_limpo pré-tratado.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•  **Formatos inconsistentes:** timestamps e decimais convertidos no momento da análise.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•  **Reexecução:** scripts idempotentes (DROP IF EXISTS + recarga) garantem carga repetível.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  <a:latin typeface="Calibri"/>
              </a:rPr>
              <a:t>Etapa 4 — Análise de Dados e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3864"/>
                </a:solidFill>
                <a:latin typeface="Calibri"/>
              </a:rPr>
              <a:t>Pagamentos e Recompra (P1 e P2)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64240" cy="25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56232"/>
            <a:ext cx="2651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1F3864"/>
                </a:solidFill>
                <a:latin typeface="Calibri"/>
              </a:rPr>
              <a:t>73,9%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60320"/>
            <a:ext cx="2651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95959"/>
                </a:solidFill>
                <a:latin typeface="Calibri"/>
              </a:rPr>
              <a:t>no cartão de crédito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69164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856232"/>
            <a:ext cx="2651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1F3864"/>
                </a:solidFill>
                <a:latin typeface="Calibri"/>
              </a:rPr>
              <a:t>3,12%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560320"/>
            <a:ext cx="2651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95959"/>
                </a:solidFill>
                <a:latin typeface="Calibri"/>
              </a:rPr>
              <a:t>taxa de recompra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9164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856232"/>
            <a:ext cx="2651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1F3864"/>
                </a:solidFill>
                <a:latin typeface="Calibri"/>
              </a:rPr>
              <a:t>R$ 12,5 mi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560320"/>
            <a:ext cx="2651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95959"/>
                </a:solidFill>
                <a:latin typeface="Calibri"/>
              </a:rPr>
              <a:t>via crédito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40080" y="3291840"/>
          <a:ext cx="60350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949440" y="338328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•  **Insight:** o crédito domina (73,9%) — parcelamento é chave;</a:t>
            </a:r>
          </a:p>
          <a:p>
            <a:pPr lvl="1">
              <a:spcAft>
                <a:spcPts val="1000"/>
              </a:spcAft>
            </a:pPr>
            <a:r>
              <a:rPr sz="1300" b="0">
                <a:solidFill>
                  <a:srgbClr val="595959"/>
                </a:solidFill>
                <a:latin typeface="Calibri"/>
              </a:rPr>
              <a:t>–  boleto ainda relevante (19%) para o público sem cartão.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•  **Risco:** recompra de apenas 3,12% → base de compra única.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•  **Ação:** CRM, pós-venda e fidelização para elevar o LTV.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  <a:latin typeface="Calibri"/>
              </a:rPr>
              <a:t>Etapa 4 — Análise de Dados e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3864"/>
                </a:solidFill>
                <a:latin typeface="Calibri"/>
              </a:rPr>
              <a:t>Geografia e Sazonalidade (P3 e P4)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64240" cy="25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56232"/>
            <a:ext cx="2651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1F3864"/>
                </a:solidFill>
                <a:latin typeface="Calibri"/>
              </a:rPr>
              <a:t>SP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60320"/>
            <a:ext cx="2651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95959"/>
                </a:solidFill>
                <a:latin typeface="Calibri"/>
              </a:rPr>
              <a:t>40.302 clientes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69164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856232"/>
            <a:ext cx="2651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1F3864"/>
                </a:solidFill>
                <a:latin typeface="Calibri"/>
              </a:rPr>
              <a:t>Nov/2017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560320"/>
            <a:ext cx="2651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95959"/>
                </a:solidFill>
                <a:latin typeface="Calibri"/>
              </a:rPr>
              <a:t>pico de pedidos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9164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856232"/>
            <a:ext cx="2651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1F3864"/>
                </a:solidFill>
                <a:latin typeface="Calibri"/>
              </a:rPr>
              <a:t>Sudeste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560320"/>
            <a:ext cx="2651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95959"/>
                </a:solidFill>
                <a:latin typeface="Calibri"/>
              </a:rPr>
              <a:t>concentra a demanda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40080" y="3291840"/>
          <a:ext cx="60350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949440" y="338328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•  **Insight:** forte concentração no Sudeste (SP/RJ/MG).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•  **Sazonalidade:** pico em nov/2017 (Black Friday).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•  **Ação:** logística e estoque reforçados no Sudeste e</a:t>
            </a:r>
          </a:p>
          <a:p>
            <a:pPr lvl="1">
              <a:spcAft>
                <a:spcPts val="1000"/>
              </a:spcAft>
            </a:pPr>
            <a:r>
              <a:rPr sz="1300" b="0">
                <a:solidFill>
                  <a:srgbClr val="595959"/>
                </a:solidFill>
                <a:latin typeface="Calibri"/>
              </a:rPr>
              <a:t>–  campanhas planejadas para datas de pico.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  <a:latin typeface="Calibri"/>
              </a:rPr>
              <a:t>Etapa 4 — Análise de Dados e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3864"/>
                </a:solidFill>
                <a:latin typeface="Calibri"/>
              </a:rPr>
              <a:t>Categorias e Crescimento (P5 e P6)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64240" cy="25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56232"/>
            <a:ext cx="2651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1F3864"/>
                </a:solidFill>
                <a:latin typeface="Calibri"/>
              </a:rPr>
              <a:t>cama/mesa/banho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60320"/>
            <a:ext cx="2651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95959"/>
                </a:solidFill>
                <a:latin typeface="Calibri"/>
              </a:rPr>
              <a:t>+ vendida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69164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856232"/>
            <a:ext cx="2651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1F3864"/>
                </a:solidFill>
                <a:latin typeface="Calibri"/>
              </a:rPr>
              <a:t>health_beauty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560320"/>
            <a:ext cx="2651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95959"/>
                </a:solidFill>
                <a:latin typeface="Calibri"/>
              </a:rPr>
              <a:t>+ receita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9164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856232"/>
            <a:ext cx="2651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1F3864"/>
                </a:solidFill>
                <a:latin typeface="Calibri"/>
              </a:rPr>
              <a:t>+52%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560320"/>
            <a:ext cx="2651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95959"/>
                </a:solidFill>
                <a:latin typeface="Calibri"/>
              </a:rPr>
              <a:t>MoM em nov/2017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40080" y="3291840"/>
          <a:ext cx="60350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949440" y="338328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•  **Insight:** volume vem de cama/mesa/banho; receita de</a:t>
            </a:r>
          </a:p>
          <a:p>
            <a:pPr lvl="1">
              <a:spcAft>
                <a:spcPts val="1000"/>
              </a:spcAft>
            </a:pPr>
            <a:r>
              <a:rPr sz="1300" b="0">
                <a:solidFill>
                  <a:srgbClr val="595959"/>
                </a:solidFill>
                <a:latin typeface="Calibri"/>
              </a:rPr>
              <a:t>–  saúde &amp; beleza e relógios/presentes (ticket maior).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•  **Tendência:** crescimento forte em 2017, estabiliza em 2018.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•  **Ação:** mix de produtos por margem e curva de demanda.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  <a:latin typeface="Calibri"/>
              </a:rPr>
              <a:t>Etapa 4 — Análise de Dados e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3864"/>
                </a:solidFill>
                <a:latin typeface="Calibri"/>
              </a:rPr>
              <a:t>Logística e Cancelamentos (P7 e P8)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64240" cy="25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56232"/>
            <a:ext cx="2651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1F3864"/>
                </a:solidFill>
                <a:latin typeface="Calibri"/>
              </a:rPr>
              <a:t>12,5 dias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60320"/>
            <a:ext cx="2651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95959"/>
                </a:solidFill>
                <a:latin typeface="Calibri"/>
              </a:rPr>
              <a:t>entrega média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69164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856232"/>
            <a:ext cx="2651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1F3864"/>
                </a:solidFill>
                <a:latin typeface="Calibri"/>
              </a:rPr>
              <a:t>93,2%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560320"/>
            <a:ext cx="2651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95959"/>
                </a:solidFill>
                <a:latin typeface="Calibri"/>
              </a:rPr>
              <a:t>no prazo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9164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856232"/>
            <a:ext cx="2651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1F3864"/>
                </a:solidFill>
                <a:latin typeface="Calibri"/>
              </a:rPr>
              <a:t>0,6%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560320"/>
            <a:ext cx="2651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95959"/>
                </a:solidFill>
                <a:latin typeface="Calibri"/>
              </a:rPr>
              <a:t>cancelados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40080" y="3291840"/>
          <a:ext cx="60350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949440" y="338328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•  **Insight:** logística saudável — 93% no prazo, ~12 dias.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•  **Cancelamento:** o Olist não traz 'motivo' textual;</a:t>
            </a:r>
          </a:p>
          <a:p>
            <a:pPr lvl="1">
              <a:spcAft>
                <a:spcPts val="1000"/>
              </a:spcAft>
            </a:pPr>
            <a:r>
              <a:rPr sz="1300" b="0">
                <a:solidFill>
                  <a:srgbClr val="595959"/>
                </a:solidFill>
                <a:latin typeface="Calibri"/>
              </a:rPr>
              <a:t>–  'unavailable' (0,6%) sugere ruptura de estoque.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•  **Ação:** monitorar estoque e prazos das categorias críticas.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  <a:latin typeface="Calibri"/>
              </a:rPr>
              <a:t>Etapa 4 — Análise de Dados e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3864"/>
                </a:solidFill>
                <a:latin typeface="Calibri"/>
              </a:rPr>
              <a:t>Vendedores e Satisfação (P9 e P10)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64240" cy="25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56232"/>
            <a:ext cx="2651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1F3864"/>
                </a:solidFill>
                <a:latin typeface="Calibri"/>
              </a:rPr>
              <a:t>R$ 229 mil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60320"/>
            <a:ext cx="2651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95959"/>
                </a:solidFill>
                <a:latin typeface="Calibri"/>
              </a:rPr>
              <a:t>top seller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69164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856232"/>
            <a:ext cx="2651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1F3864"/>
                </a:solidFill>
                <a:latin typeface="Calibri"/>
              </a:rPr>
              <a:t>4,09/5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560320"/>
            <a:ext cx="2651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95959"/>
                </a:solidFill>
                <a:latin typeface="Calibri"/>
              </a:rPr>
              <a:t>nota média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9164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856232"/>
            <a:ext cx="2651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1F3864"/>
                </a:solidFill>
                <a:latin typeface="Calibri"/>
              </a:rPr>
              <a:t>14,7%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560320"/>
            <a:ext cx="2651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95959"/>
                </a:solidFill>
                <a:latin typeface="Calibri"/>
              </a:rPr>
              <a:t>insatisfeitos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40080" y="3291840"/>
          <a:ext cx="60350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949440" y="338328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•  **Insight:** receita concentrada em poucos sellers de SP.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•  **Satisfação:** boa média (4,09), mas 14,7% dão nota 1-2.</a:t>
            </a:r>
          </a:p>
          <a:p>
            <a:pPr lvl="1">
              <a:spcAft>
                <a:spcPts val="1000"/>
              </a:spcAft>
            </a:pPr>
            <a:r>
              <a:rPr sz="1300" b="0">
                <a:solidFill>
                  <a:srgbClr val="595959"/>
                </a:solidFill>
                <a:latin typeface="Calibri"/>
              </a:rPr>
              <a:t>–  11,5% dão nota 1 — cauda de insatisfação relevante.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•  **Ação:** plano de qualidade para sellers e SAC proativo.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  <a:latin typeface="Calibri"/>
              </a:rPr>
              <a:t>Etapa 5 — Gestão e Governança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3864"/>
                </a:solidFill>
                <a:latin typeface="Calibri"/>
              </a:rPr>
              <a:t>Organização, Governança e Git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64240" cy="25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0">
                <a:solidFill>
                  <a:srgbClr val="595959"/>
                </a:solidFill>
                <a:latin typeface="Calibri"/>
              </a:rPr>
              <a:t>•  **Repositório:** github.com/lukasrocharr/ETL-ECOMMERCE (público, com README).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595959"/>
                </a:solidFill>
                <a:latin typeface="Calibri"/>
              </a:rPr>
              <a:t>•  **Estrutura de pastas:** sql/ (DDL, ETL, objetos), analise_olist/ (carga + 10 perguntas), docs/.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595959"/>
                </a:solidFill>
                <a:latin typeface="Calibri"/>
              </a:rPr>
              <a:t>•  **Scripts:** 00_setup_e_carga.sql (carga) e 01_perguntas.sql (as 10 análises).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595959"/>
                </a:solidFill>
                <a:latin typeface="Calibri"/>
              </a:rPr>
              <a:t>•  **Reprodutibilidade:** ambiente em Docker + scripts idempotentes = qualquer membro reproduz.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595959"/>
                </a:solidFill>
                <a:latin typeface="Calibri"/>
              </a:rPr>
              <a:t>•  **Versionamento:** histórico de commits documentando a evolução do projeto.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595959"/>
                </a:solidFill>
                <a:latin typeface="Calibri"/>
              </a:rPr>
              <a:t>•  **Gestão:** quadro Kanban (GitHub Projects/Trello) — [inserir print do board].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  <a:latin typeface="Calibri"/>
              </a:rPr>
              <a:t>Etapa 6 — Encerramento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3864"/>
                </a:solidFill>
                <a:latin typeface="Calibri"/>
              </a:rPr>
              <a:t>Conclusão e Próximos Passos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64240" cy="25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6126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595959"/>
                </a:solidFill>
                <a:latin typeface="Calibri"/>
              </a:rPr>
              <a:t>•  Principais conclusões: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–  Crédito domina; logística forte (93% no prazo).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–  Demanda concentrada no Sudeste e em datas de pico.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–  Recompra baixíssima (3,1%) e 14,7% de insatisfeitos.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73736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595959"/>
                </a:solidFill>
                <a:latin typeface="Calibri"/>
              </a:rPr>
              <a:t>•  Próximos passos: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–  Modelar um Data Warehouse estrela (fato vendas).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–  Conectar Dashboard de BI (Power BI/Metabase).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–  Programa de fidelização para elevar a recompra.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–  Painel de qualidade de sellers e satisfação.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Obrigado!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CFDAEC"/>
                </a:solidFill>
                <a:latin typeface="Calibri"/>
              </a:rPr>
              <a:t>Perguntas?  ·  github.com/lukasrocharr/ETL-ECOMMERCE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